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89" r:id="rId14"/>
    <p:sldId id="271" r:id="rId15"/>
    <p:sldId id="273" r:id="rId16"/>
    <p:sldId id="284" r:id="rId17"/>
    <p:sldId id="276" r:id="rId18"/>
    <p:sldId id="277" r:id="rId19"/>
    <p:sldId id="278" r:id="rId20"/>
    <p:sldId id="279" r:id="rId21"/>
    <p:sldId id="282" r:id="rId22"/>
    <p:sldId id="283" r:id="rId23"/>
    <p:sldId id="285" r:id="rId24"/>
    <p:sldId id="286" r:id="rId25"/>
    <p:sldId id="287" r:id="rId26"/>
    <p:sldId id="288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20"/>
  </p:normalViewPr>
  <p:slideViewPr>
    <p:cSldViewPr snapToGrid="0" snapToObjects="1">
      <p:cViewPr varScale="1">
        <p:scale>
          <a:sx n="114" d="100"/>
          <a:sy n="114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31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минут. Важно снять страх: мы не просим перестать спрашивать. Мы просим спрашивать иначе — раньше и понятнее.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у команды: какая из двух крайностей нам ближе? Обычно вторая — и это важно проговорить вслух.
Переход к следующему слайду: между ними узкая правильная полоса, дальше — алгоритм, как в неё попасть.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2 — самый пропускаемый. Половина ответов уже лежит в прошлогодних файлах и чатах.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памятку с этой формулой. Она главный переносимый артефакт сессии.
Можно проговорить: если какую-то строку нечем заполнить — это сигнал, что стоит сделать ещё шаг самому.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после того, как группы попробовали заполнить формулу сами. Подчеркнуть: ни одна строка не длиннее одного предложения.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формулирует группа, не вы. Записать их формулировку — она приживётся лучше.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минут. Самый деликатный блок: люди легко слышат «вы плохо работаете». Начать с признания — работы много и она тяжёлая, вопрос не в этом. Вопрос в том, что со стороны её не видно, и это лишает человека и поддержки, и признания.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момент для этого слайда: попросить каждого вспомнить результат коллеги за прошлую неделю. Пауза, которая возникнет, — лучшая демонстрация главной мысли.
Важно удержать интонацию: это не «рассказывай, чтобы тебя заметили и повысили» — это про то, что невидимая работа не участвует в решениях и не получает помощи.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цифры не обязаны быть большими. «14 из 17» — уже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Речь не про то, чтобы хвастаться или скрывать проблемы. Хороший статус включает и успехи, и честное несделанное.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минут. Ключ: список из десяти пунктов по порядку — ещё не приоритизация. Она начинается там, где ресурсов не хватает и надо выбрать.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Последний пункт вынесен отдельно — это самый частый и самый дорогой сценарий.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Четвёртая ловушка — самая частая. Новое сообщение руководителя не отменяет автоматически все прежние приоритеты.
Не превращать это в матрицу — задача научиться сравнивать последствия, а не заполнять таблицу.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Снять страх обратной крайности: мы не требуем, чтобы сотрудник сам принимал стратегические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Завершение вашего блока. Дальше — памятка и договорённости, потом передача Вике.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распечатать и раздать. Единственное, что переживёт сессию на неделю.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Команды собираются так, чтобы кейс был из чужой функции: маркетинговый — не маркетологам и т.д. Смысл: без знания процесса нельзя опереться на привычку — остаются только четыре навыка. Проговорить вслух: незнание деталей — не ошибка, называйте допущения и вопросы.
Пункт 4 означает, что дополнительная вводная обязательна: примерно на 12-й минуте подготовки вбросить каждой команде её вводную (есть в заметках кейсов) — статус команды готовят уже с её учётом.
Во время подготовки вы играете руководителя: на сырой запрос («что нам делать?») отвечайте «а что ты предлагаешь?».
Оцениваем не правильность решения, а применение четырёх навыков.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проверяем по навыкам:
— Оунершип: результат = отправленная рассылка и заявки, а не «мы спросили, как собрать кампанию». Никто не умеет в CRM — это препятствие, не конец задачи.
— Приоритеты: сначала список и текст на согласование (без них всё стоит), шаблон — потом. Ловушка: залипнуть в выбор шаблона.
— Вопросы и помощь: два законных запроса — «покажи, как собрать кампанию» (после попытки разобраться по инструкции) и «согласуй текст до …». Плохой запрос: «мы не умеем, сделайте за нас».
— Видимость: что доложат после отправки — открытия, клики, заявки, что не получилось.
Доп-вопрос «о чём подумать» — ждём: отписки/спам, время отправки, UTM, не задеть тех, кто уже купил, что делать с ответами на письмо.
Вброс по ходу (по желанию): «руководитель занят до вечера» — посмотреть, встанут 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проверяем по навыкам:
— Оунершип: результат = выводы и рекомендация к планированию, даже если данные неполные. Решение без полной информации: лучше честные выводы по 8 интервью, чем идеальное исследование после дедлайна.
— Приоритеты: что успеть за две недели, а что отрезать. Ловушка: попытаться сделать и количественное, и качественное целиком.
— Вопросы и помощь: согласование вопросов — заранее и пакетом, а не «набросали за день до конца». Правильный запрос: «вот вопросы, вот зачем каждый, подтверди до среды». Плюс делёж работы: один не успеет — как распределят.
— Видимость: как оформят выводы, чтобы планирование могло на них опереться.
Вброс по ходу (по желанию): «руководитель вернул вопросы с правками через три дня» — успеют ли перестроиться.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проверяем по навыкам:
— Оунершип: результат = подписанный договор и состоявшееся первое занятие, а не «отправили драфт и ждём». Держать много ниток одновременно и не терять ни одну.
— Приоритеты: что блокирует всё (цена и условия), а что можно решить позже (кофе-брейк). Ловушка: начать с мелочей, потому что они проще.
— Вопросы и помощь: что админ решает сам, а что согласует (цена, скидка, слоты залов). Запрос по формуле: «вот условия, вот два варианта площадки, предлагаю наш зал по вторникам, подтверди до пятницы».
— Видимость: статус по сделке раз в неделю — что подтверждено, что висит, что нужно от руководителя. Сделка длинная, молчание тут дороже всего.
Вброс по ходу (по желанию): «компания просит скидку 20% и старт через две недели» — что эскалируют, что ответят 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GOGOL SCHOOL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мы работаем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8580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4297680"/>
            <a:ext cx="457200" cy="45720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5272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Оунершип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4297680"/>
            <a:ext cx="457200" cy="45720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34290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9592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помощь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4297680"/>
            <a:ext cx="457200" cy="45720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61722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3912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15400" y="4297680"/>
            <a:ext cx="457200" cy="45720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89154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48232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БЛОКА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навыка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85232" cy="1600200"/>
          </a:xfrm>
          <a:prstGeom prst="roundRect">
            <a:avLst>
              <a:gd name="adj" fmla="val 5143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566928" cy="566928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09928" y="1993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Оунершип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передавай проблему — подключай </a:t>
            </a:r>
            <a:r>
              <a:rPr lang="ru-RU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команду и руководителя</a:t>
            </a: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своему решению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285232" cy="1600200"/>
          </a:xfrm>
          <a:prstGeom prst="roundRect">
            <a:avLst>
              <a:gd name="adj" fmla="val 5143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0" name="Shape 8"/>
          <p:cNvSpPr/>
          <p:nvPr/>
        </p:nvSpPr>
        <p:spPr>
          <a:xfrm>
            <a:off x="6537960" y="2011680"/>
            <a:ext cx="566928" cy="56692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65379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42048" y="1993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и помощь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37960" y="26334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своя версия и разумная попытка, потом конкретный запрос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285232" cy="1600200"/>
          </a:xfrm>
          <a:prstGeom prst="roundRect">
            <a:avLst>
              <a:gd name="adj" fmla="val 5143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5" name="Shape 13"/>
          <p:cNvSpPr/>
          <p:nvPr/>
        </p:nvSpPr>
        <p:spPr>
          <a:xfrm>
            <a:off x="1005840" y="3931920"/>
            <a:ext cx="566928" cy="566928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09928" y="391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Видимость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05840" y="45537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Показываем результат, а не тяжесть работы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285232" cy="1600200"/>
          </a:xfrm>
          <a:prstGeom prst="roundRect">
            <a:avLst>
              <a:gd name="adj" fmla="val 5143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0" name="Shape 18"/>
          <p:cNvSpPr/>
          <p:nvPr/>
        </p:nvSpPr>
        <p:spPr>
          <a:xfrm>
            <a:off x="6537960" y="3931920"/>
            <a:ext cx="566928" cy="56692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/>
          <p:nvPr/>
        </p:nvSpPr>
        <p:spPr>
          <a:xfrm>
            <a:off x="653796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42048" y="391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Приоритеты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537960" y="45537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Выбираем главное до того, как всё стало срочным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1051560" cy="105156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05740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182880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Оунершип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Ты отвечаешь не за то, что сделал, а за то, что получилось.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5029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1 · ОУНЕРШИП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задача — </a:t>
            </a:r>
            <a:r>
              <a:rPr lang="en-US" sz="340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</a:t>
            </a: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</a:t>
            </a:r>
            <a:r>
              <a:rPr lang="en-US" sz="340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хода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оплатил общий продукт. Нужно, чтобы он выбрал лабораторию до того, как места закончатся.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 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17627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Написала на почту — не ответил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81635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960120" y="28163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Написала ещё раз через два дня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45643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960120" y="34564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9651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/>
          <p:nvPr/>
        </p:nvSpPr>
        <p:spPr>
          <a:xfrm>
            <a:off x="960120" y="40965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мой выходной задача стоит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73659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960120" y="4736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неделю</a:t>
            </a:r>
            <a:r>
              <a:rPr lang="ru-RU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спрашиваю руководителя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«студент не отвечает, что делать?»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37667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/>
          <p:nvPr/>
        </p:nvSpPr>
        <p:spPr>
          <a:xfrm>
            <a:off x="960120" y="53766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 не осталось. </a:t>
            </a:r>
            <a:r>
              <a:rPr lang="en-US" sz="1300" b="1" dirty="0" err="1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r>
              <a:rPr lang="en-US" sz="13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просит возврат денег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 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17627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0" name="Text 18"/>
          <p:cNvSpPr/>
          <p:nvPr/>
        </p:nvSpPr>
        <p:spPr>
          <a:xfrm>
            <a:off x="6492240" y="21762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Написала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почту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r>
              <a:rPr lang="ru-RU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Не ответил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81635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2" name="Text 20"/>
          <p:cNvSpPr/>
          <p:nvPr/>
        </p:nvSpPr>
        <p:spPr>
          <a:xfrm>
            <a:off x="6492240" y="28163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Написала в телеграм — не ответил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45643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/>
          <p:nvPr/>
        </p:nvSpPr>
        <p:spPr>
          <a:xfrm>
            <a:off x="6492240" y="34564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Позвонила —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ответил</a:t>
            </a:r>
            <a:r>
              <a:rPr lang="ru-RU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Позвонила еще раз.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09651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6" name="Text 24"/>
          <p:cNvSpPr/>
          <p:nvPr/>
        </p:nvSpPr>
        <p:spPr>
          <a:xfrm>
            <a:off x="6492240" y="40965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свой выходной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передала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коллеге</a:t>
            </a:r>
            <a:r>
              <a:rPr lang="ru-RU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что нужно получить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73659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8" name="Text 26"/>
          <p:cNvSpPr/>
          <p:nvPr/>
        </p:nvSpPr>
        <p:spPr>
          <a:xfrm>
            <a:off x="6492240" y="4736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Сообщила руководителю: связываюсь, нужно больше времени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5376672"/>
            <a:ext cx="5285232" cy="548640"/>
          </a:xfrm>
          <a:prstGeom prst="roundRect">
            <a:avLst>
              <a:gd name="adj" fmla="val 1500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30" name="Text 28"/>
          <p:cNvSpPr/>
          <p:nvPr/>
        </p:nvSpPr>
        <p:spPr>
          <a:xfrm>
            <a:off x="6492240" y="53766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Забронировала по одному месту в каждой лаборатории на время согласования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1 · ОУНЕРШИП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делает человек в ходе 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475488" cy="47548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44168" y="1609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 конечный результат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475488" cy="475488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76288" y="1609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останавливается на препятствии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475488" cy="47548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44168" y="26609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самостоятельно делает доступные шаги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475488" cy="475488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621792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76288" y="26609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предлагает решение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475488" cy="47548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4168" y="37124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вовремя подключает руководителя или коллег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475488" cy="475488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0" name="Text 18"/>
          <p:cNvSpPr/>
          <p:nvPr/>
        </p:nvSpPr>
        <p:spPr>
          <a:xfrm>
            <a:off x="621792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76288" y="37124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перекладывает задачу целиком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1051560" cy="105156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05740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182880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и помощь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Спрашивать нужно вовремя и так, </a:t>
            </a:r>
            <a:r>
              <a:rPr lang="en-US" sz="32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чтобы</a:t>
            </a: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был понятным без уточнений контекста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2 · ВОПРОСЫ И ПОМОЩЬ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одинаково плохие крайности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85232" cy="3429000"/>
          </a:xfrm>
          <a:prstGeom prst="roundRect">
            <a:avLst>
              <a:gd name="adj" fmla="val 2400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1051560" y="1828800"/>
            <a:ext cx="548640" cy="54864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0515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принести сырую проблему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«Я не знаю, что делать»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5156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делает твою работу.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не растёшь, он не успевает своё.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285232" cy="3429000"/>
          </a:xfrm>
          <a:prstGeom prst="roundRect">
            <a:avLst>
              <a:gd name="adj" fmla="val 2400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дней тонуть молча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«Я пыталась разобраться, но не получилось»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8368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</a:t>
            </a: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прошел</a:t>
            </a: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не на помощь, а на тушение пожара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2 · ВОПРОСЫ И ПОМОЩЬ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шагов перед обращением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85232" cy="1143000"/>
          </a:xfrm>
          <a:prstGeom prst="roundRect">
            <a:avLst>
              <a:gd name="adj" fmla="val 72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960120" y="1947672"/>
            <a:ext cx="548640" cy="548640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6012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17556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Сформулируй, какой результат нужен и что именно непонятно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85232" cy="1143000"/>
          </a:xfrm>
          <a:prstGeom prst="roundRect">
            <a:avLst>
              <a:gd name="adj" fmla="val 72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9" name="Shape 7"/>
          <p:cNvSpPr/>
          <p:nvPr/>
        </p:nvSpPr>
        <p:spPr>
          <a:xfrm>
            <a:off x="6492240" y="1947672"/>
            <a:ext cx="548640" cy="548640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/>
          <p:nvPr/>
        </p:nvSpPr>
        <p:spPr>
          <a:xfrm>
            <a:off x="649224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78040" y="17556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доступные инструкции, </a:t>
            </a: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аналогичные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похожие случаи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5285232" cy="1143000"/>
          </a:xfrm>
          <a:prstGeom prst="roundRect">
            <a:avLst>
              <a:gd name="adj" fmla="val 72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3" name="Shape 11"/>
          <p:cNvSpPr/>
          <p:nvPr/>
        </p:nvSpPr>
        <p:spPr>
          <a:xfrm>
            <a:off x="960120" y="3319272"/>
            <a:ext cx="548640" cy="548640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96012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45920" y="31272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 разумную самостоятельную попытку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017520"/>
            <a:ext cx="5285232" cy="1143000"/>
          </a:xfrm>
          <a:prstGeom prst="roundRect">
            <a:avLst>
              <a:gd name="adj" fmla="val 72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7" name="Shape 15"/>
          <p:cNvSpPr/>
          <p:nvPr/>
        </p:nvSpPr>
        <p:spPr>
          <a:xfrm>
            <a:off x="6492240" y="3319272"/>
            <a:ext cx="548640" cy="54864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/>
          <p:nvPr/>
        </p:nvSpPr>
        <p:spPr>
          <a:xfrm>
            <a:off x="649224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178040" y="31272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разбираться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угрожая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сроку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4389120"/>
            <a:ext cx="5285232" cy="1143000"/>
          </a:xfrm>
          <a:prstGeom prst="roundRect">
            <a:avLst>
              <a:gd name="adj" fmla="val 72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 dirty="0"/>
          </a:p>
        </p:txBody>
      </p:sp>
      <p:sp>
        <p:nvSpPr>
          <p:cNvPr id="21" name="Shape 19"/>
          <p:cNvSpPr/>
          <p:nvPr/>
        </p:nvSpPr>
        <p:spPr>
          <a:xfrm>
            <a:off x="960120" y="4690872"/>
            <a:ext cx="548640" cy="54864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2" name="Text 20"/>
          <p:cNvSpPr/>
          <p:nvPr/>
        </p:nvSpPr>
        <p:spPr>
          <a:xfrm>
            <a:off x="960120" y="4690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45920" y="44988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Сформулируй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1–2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варианта</a:t>
            </a: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решения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285232" cy="1143000"/>
          </a:xfrm>
          <a:prstGeom prst="roundRect">
            <a:avLst>
              <a:gd name="adj" fmla="val 72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5" name="Shape 23"/>
          <p:cNvSpPr/>
          <p:nvPr/>
        </p:nvSpPr>
        <p:spPr>
          <a:xfrm>
            <a:off x="6492240" y="4690872"/>
            <a:ext cx="548640" cy="54864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6" name="Text 24"/>
          <p:cNvSpPr/>
          <p:nvPr/>
        </p:nvSpPr>
        <p:spPr>
          <a:xfrm>
            <a:off x="6492240" y="4690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178040" y="44988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Приди с конкретным запросом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2 · ШАБЛОН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Формула обращения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6858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нужно получить результат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78240" y="1645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487168"/>
            <a:ext cx="10817352" cy="6858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1097280" y="24871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уже проверила / сделала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0" y="24871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3328416"/>
            <a:ext cx="10817352" cy="6858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1097280" y="3328416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вижу такие варианты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0" y="33284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169664"/>
            <a:ext cx="10817352" cy="6858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1097280" y="4169664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предлагаю ___, потому что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416966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" y="5010912"/>
            <a:ext cx="10817352" cy="6858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/>
          <p:nvPr/>
        </p:nvSpPr>
        <p:spPr>
          <a:xfrm>
            <a:off x="1097280" y="501091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тебя мне нужно ___ </a:t>
            </a:r>
            <a:r>
              <a:rPr lang="ru-RU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 срок, если он горящий)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0" y="50109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2 · 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формула звучит целиком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нужно к запуску продаж. Обращение собрано по пяти строкам.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817352" cy="713232"/>
          </a:xfrm>
          <a:prstGeom prst="roundRect">
            <a:avLst>
              <a:gd name="adj" fmla="val 11538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нужен результат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11880" y="187452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«Для запуска мне нужно подтверждённое расписание до 15:00»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715768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1005840" y="27157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уже сделала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1880" y="271576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«Проверила в Ноушне, CRM и календаре: в Ноушн и календарь внесено, в CRM нет, </a:t>
            </a:r>
            <a:r>
              <a:rPr lang="en-US" sz="14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4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Согласовано</a:t>
            </a:r>
            <a:r>
              <a:rPr lang="ru-RU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стоит»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557016"/>
            <a:ext cx="10817352" cy="713232"/>
          </a:xfrm>
          <a:prstGeom prst="roundRect">
            <a:avLst>
              <a:gd name="adj" fmla="val 11538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1005840" y="355701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Вижу варианты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3557016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«Внести как есть в Озму и </a:t>
            </a:r>
            <a:r>
              <a:rPr lang="en-US" sz="14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ждать подтверждения и сдвинуть запуск»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398264"/>
            <a:ext cx="10817352" cy="713232"/>
          </a:xfrm>
          <a:prstGeom prst="roundRect">
            <a:avLst>
              <a:gd name="adj" fmla="val 11538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1005840" y="439826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Предлагаю, потому что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11880" y="4398264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«Внести как есть, чтобы не терять время. Если что — перепроверим и обновим»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239512"/>
            <a:ext cx="10817352" cy="713232"/>
          </a:xfrm>
          <a:prstGeom prst="roundRect">
            <a:avLst>
              <a:gd name="adj" fmla="val 11538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/>
          <p:nvPr/>
        </p:nvSpPr>
        <p:spPr>
          <a:xfrm>
            <a:off x="1005840" y="52395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тебя нужно, до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11880" y="523951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«Подтвердить, что можно вносить без </a:t>
            </a:r>
            <a:r>
              <a:rPr lang="en-US" sz="14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статуса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4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Согласовано</a:t>
            </a:r>
            <a:r>
              <a:rPr lang="ru-RU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ru-RU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:00»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2 · ВЫВОД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10817352" cy="1965960"/>
          </a:xfrm>
          <a:prstGeom prst="roundRect">
            <a:avLst>
              <a:gd name="adj" fmla="val 4186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4" name="Text 2"/>
          <p:cNvSpPr/>
          <p:nvPr/>
        </p:nvSpPr>
        <p:spPr>
          <a:xfrm>
            <a:off x="1234440" y="1600200"/>
            <a:ext cx="9692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Обращаемся за помощью, когда самостоятельный поиск перестаёт давать новую информацию, когда выбор между найденными путями требует </a:t>
            </a:r>
            <a:r>
              <a:rPr lang="en-US" sz="250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согласования</a:t>
            </a: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или</a:t>
            </a: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когда появляется риск для срока и качества.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3749040"/>
            <a:ext cx="5285232" cy="2240280"/>
          </a:xfrm>
          <a:prstGeom prst="roundRect">
            <a:avLst>
              <a:gd name="adj" fmla="val 3673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0058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КРИТЕРИЙ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279392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потратила час, значит пора спрашивать»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«Тут сложно, я не понимаю» — это ощущение, а не признак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3749040"/>
            <a:ext cx="5285232" cy="2240280"/>
          </a:xfrm>
          <a:prstGeom prst="roundRect">
            <a:avLst>
              <a:gd name="adj" fmla="val 3673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53796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4279392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«Последние двадцать минут я хожу по кругу — новой информации нет»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«Нашла два рабочих пути, выбрать между ними без согласования не могу»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1051560" cy="105156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05740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182880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Видимость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 твоей работе знают ровно столько, сколько ты о ней рассказал.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5029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 уходит много — но со стороны этого не видно, видно только то, что изменилось. 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3 · ВИДИМОСТЬ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0817352" cy="1417320"/>
          </a:xfrm>
          <a:prstGeom prst="roundRect">
            <a:avLst>
              <a:gd name="adj" fmla="val 5806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188720" y="1508760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Косяки становятся видимыми сами.</a:t>
            </a:r>
            <a:endParaRPr lang="en-US" sz="2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 — только если о них рассказать.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3246120"/>
            <a:ext cx="3410712" cy="2880360"/>
          </a:xfrm>
          <a:prstGeom prst="roundRect">
            <a:avLst>
              <a:gd name="adj" fmla="val 2857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7" name="Shape 5"/>
          <p:cNvSpPr/>
          <p:nvPr/>
        </p:nvSpPr>
        <p:spPr>
          <a:xfrm>
            <a:off x="960120" y="3520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принимаются по видимой картине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389120" y="3246120"/>
            <a:ext cx="3410712" cy="2880360"/>
          </a:xfrm>
          <a:prstGeom prst="roundRect">
            <a:avLst>
              <a:gd name="adj" fmla="val 2857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2" name="Shape 10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Помощь приходит только </a:t>
            </a:r>
            <a:r>
              <a:rPr lang="en-US" sz="165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</a:t>
            </a:r>
            <a:r>
              <a:rPr lang="en-US" sz="16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16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заявленным</a:t>
            </a:r>
            <a:r>
              <a:rPr lang="en-US" sz="16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проблемам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92440" y="3246120"/>
            <a:ext cx="3410712" cy="2880360"/>
          </a:xfrm>
          <a:prstGeom prst="roundRect">
            <a:avLst>
              <a:gd name="adj" fmla="val 2857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7" name="Shape 15"/>
          <p:cNvSpPr/>
          <p:nvPr/>
        </p:nvSpPr>
        <p:spPr>
          <a:xfrm>
            <a:off x="8366760" y="3520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</a:t>
            </a:r>
            <a:r>
              <a:rPr lang="en-US" sz="16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5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строит</a:t>
            </a:r>
            <a:r>
              <a:rPr lang="ru-RU" sz="16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свое планирование </a:t>
            </a:r>
            <a:r>
              <a:rPr lang="en-US" sz="16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на твоей работе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66760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Коллеги планируют своё, опираясь на то, что, как они думают, у тебя уже сделано</a:t>
            </a:r>
            <a:endParaRPr lang="en-US" sz="12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156168A-1FAA-6DAD-2780-C0A20D2229F8}"/>
              </a:ext>
            </a:extLst>
          </p:cNvPr>
          <p:cNvSpPr/>
          <p:nvPr/>
        </p:nvSpPr>
        <p:spPr>
          <a:xfrm>
            <a:off x="4663440" y="50292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ru-RU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ты не объявишь, что что-то не получается – другие не смогут подключиться и помочь</a:t>
            </a:r>
            <a:endParaRPr lang="en-US" sz="125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7183AC2-7D16-E459-F55E-957A6DA99B39}"/>
              </a:ext>
            </a:extLst>
          </p:cNvPr>
          <p:cNvSpPr/>
          <p:nvPr/>
        </p:nvSpPr>
        <p:spPr>
          <a:xfrm>
            <a:off x="960120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ru-RU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ресурсов, инициация проектов происходит только по видимым идеям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3 · ВИДИМОСТЬ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в каждой работе есть большой бизнес-эффект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сделала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87368" y="1965960"/>
            <a:ext cx="3017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/>
          <p:nvPr/>
        </p:nvSpPr>
        <p:spPr>
          <a:xfrm>
            <a:off x="466344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каком объёме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или качестве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90688" y="1965960"/>
            <a:ext cx="3017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92440" y="196596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836676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66760" y="2468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благодаря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этому изменилось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4114800"/>
            <a:ext cx="10817352" cy="1874520"/>
          </a:xfrm>
          <a:prstGeom prst="roundRect">
            <a:avLst>
              <a:gd name="adj" fmla="val 4390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/>
          <p:nvPr/>
        </p:nvSpPr>
        <p:spPr>
          <a:xfrm>
            <a:off x="10972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61772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«Разбирала возвраты» → «Закрыла 14 возвратов из очереди, осталось 3. Студенты перестали писать по второму разу — за неделю ни одного повторного обращения».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3 · ШАБЛОН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400" b="1" dirty="0">
                <a:solidFill>
                  <a:srgbClr val="FFFFFF"/>
                </a:solidFill>
                <a:latin typeface="Cambria" pitchFamily="34" charset="0"/>
              </a:rPr>
              <a:t>Пример рефлексии о своих результатах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777240"/>
          </a:xfrm>
          <a:prstGeom prst="roundRect">
            <a:avLst>
              <a:gd name="adj" fmla="val 10588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неделю я получила такой результат: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778240" y="1691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624328"/>
            <a:ext cx="10817352" cy="777240"/>
          </a:xfrm>
          <a:prstGeom prst="roundRect">
            <a:avLst>
              <a:gd name="adj" fmla="val 10588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1097280" y="262432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изменило: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778240" y="26243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3557016"/>
            <a:ext cx="10817352" cy="777240"/>
          </a:xfrm>
          <a:prstGeom prst="roundRect">
            <a:avLst>
              <a:gd name="adj" fmla="val 10588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1097280" y="355701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получилось: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778240" y="355701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85800" y="4489704"/>
            <a:ext cx="10817352" cy="777240"/>
          </a:xfrm>
          <a:prstGeom prst="roundRect">
            <a:avLst>
              <a:gd name="adj" fmla="val 10588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1097280" y="4489704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шаг: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778240" y="448970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Третья строка так же важна, как первая: названное вовремя несделанное — это тоже часть картины.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3 · ВИДИМОСТЬ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17352" cy="914400"/>
          </a:xfrm>
          <a:prstGeom prst="roundRect">
            <a:avLst>
              <a:gd name="adj" fmla="val 9474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941832" y="2025396"/>
            <a:ext cx="521208" cy="52120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20253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897380"/>
            <a:ext cx="9628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 с руководителем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10817352" cy="914400"/>
          </a:xfrm>
          <a:prstGeom prst="roundRect">
            <a:avLst>
              <a:gd name="adj" fmla="val 9474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9" name="Shape 7"/>
          <p:cNvSpPr/>
          <p:nvPr/>
        </p:nvSpPr>
        <p:spPr>
          <a:xfrm>
            <a:off x="941832" y="3214116"/>
            <a:ext cx="521208" cy="52120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/>
          <p:nvPr/>
        </p:nvSpPr>
        <p:spPr>
          <a:xfrm>
            <a:off x="941832" y="32141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3086100"/>
            <a:ext cx="9628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Встреча внутренней команды — маркетинг, административная, продукт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10817352" cy="914400"/>
          </a:xfrm>
          <a:prstGeom prst="roundRect">
            <a:avLst>
              <a:gd name="adj" fmla="val 9474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3" name="Shape 11"/>
          <p:cNvSpPr/>
          <p:nvPr/>
        </p:nvSpPr>
        <p:spPr>
          <a:xfrm>
            <a:off x="941832" y="4402836"/>
            <a:ext cx="521208" cy="52120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941832" y="440283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4274820"/>
            <a:ext cx="9628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Понедельничная встреча всей команды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1051560" cy="105156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05740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182880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Хорошая работа — не попытка успеть всё. Это способность понять, что сейчас сильнее влияет на результат, осознанно отложить менее важное и заранее договориться о последствиях.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4 · ПРИОРИТЕТЫ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задач больше, чем времени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941832" y="1773936"/>
            <a:ext cx="521208" cy="52120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77393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4096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пытается молча успеть всё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9" name="Shape 7"/>
          <p:cNvSpPr/>
          <p:nvPr/>
        </p:nvSpPr>
        <p:spPr>
          <a:xfrm>
            <a:off x="6473952" y="1773936"/>
            <a:ext cx="521208" cy="52120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/>
          <p:nvPr/>
        </p:nvSpPr>
        <p:spPr>
          <a:xfrm>
            <a:off x="6473952" y="177393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1645920"/>
            <a:ext cx="4096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Оценивает задачи по влиянию на общий результат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2651760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3" name="Shape 11"/>
          <p:cNvSpPr/>
          <p:nvPr/>
        </p:nvSpPr>
        <p:spPr>
          <a:xfrm>
            <a:off x="941832" y="2825496"/>
            <a:ext cx="521208" cy="52120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941832" y="2825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2697480"/>
            <a:ext cx="4096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Учитывает сроки, зависимости и последствия задержки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7" name="Shape 15"/>
          <p:cNvSpPr/>
          <p:nvPr/>
        </p:nvSpPr>
        <p:spPr>
          <a:xfrm>
            <a:off x="6473952" y="2825496"/>
            <a:ext cx="521208" cy="52120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/>
          <p:nvPr/>
        </p:nvSpPr>
        <p:spPr>
          <a:xfrm>
            <a:off x="6473952" y="2825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0" y="2697480"/>
            <a:ext cx="4096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предлагает, что сделать первым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3703320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1" name="Shape 19"/>
          <p:cNvSpPr/>
          <p:nvPr/>
        </p:nvSpPr>
        <p:spPr>
          <a:xfrm>
            <a:off x="941832" y="3877056"/>
            <a:ext cx="521208" cy="52120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2" name="Text 20"/>
          <p:cNvSpPr/>
          <p:nvPr/>
        </p:nvSpPr>
        <p:spPr>
          <a:xfrm>
            <a:off x="941832" y="387705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3749040"/>
            <a:ext cx="4096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 называет, что будет отложено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17920" y="3703320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5" name="Shape 23"/>
          <p:cNvSpPr/>
          <p:nvPr/>
        </p:nvSpPr>
        <p:spPr>
          <a:xfrm>
            <a:off x="6473952" y="3877056"/>
            <a:ext cx="521208" cy="521208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6" name="Text 24"/>
          <p:cNvSpPr/>
          <p:nvPr/>
        </p:nvSpPr>
        <p:spPr>
          <a:xfrm>
            <a:off x="6473952" y="387705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32320" y="3749040"/>
            <a:ext cx="4096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Заранее согласовывает изменение обязательств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85800" y="4754880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9" name="Shape 27"/>
          <p:cNvSpPr/>
          <p:nvPr/>
        </p:nvSpPr>
        <p:spPr>
          <a:xfrm>
            <a:off x="941832" y="4928616"/>
            <a:ext cx="521208" cy="521208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30" name="Text 28"/>
          <p:cNvSpPr/>
          <p:nvPr/>
        </p:nvSpPr>
        <p:spPr>
          <a:xfrm>
            <a:off x="941832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600200" y="4800600"/>
            <a:ext cx="9628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просроченным дедлайном по всем задачам и сообщением, что задач было слишком много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4 · ПРИОРИТЕТЫ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каким критериям выбирать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852160" cy="4206240"/>
          </a:xfrm>
          <a:prstGeom prst="roundRect">
            <a:avLst>
              <a:gd name="adj" fmla="val 1957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5156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ВОПРОСА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2240280"/>
            <a:ext cx="457200" cy="457200"/>
          </a:xfrm>
          <a:prstGeom prst="ellipse">
            <a:avLst/>
          </a:prstGeom>
          <a:solidFill>
            <a:srgbClr val="2C6E4E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16712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какой результат компании влияет задача?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51560" y="3108960"/>
            <a:ext cx="457200" cy="457200"/>
          </a:xfrm>
          <a:prstGeom prst="ellipse">
            <a:avLst/>
          </a:prstGeom>
          <a:solidFill>
            <a:srgbClr val="2C6E4E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/>
          <p:nvPr/>
        </p:nvSpPr>
        <p:spPr>
          <a:xfrm>
            <a:off x="10515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03580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произойдёт, если сделать её позже?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51560" y="3977640"/>
            <a:ext cx="457200" cy="457200"/>
          </a:xfrm>
          <a:prstGeom prst="ellipse">
            <a:avLst/>
          </a:prstGeom>
          <a:solidFill>
            <a:srgbClr val="2C6E4E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/>
          <p:nvPr/>
        </p:nvSpPr>
        <p:spPr>
          <a:xfrm>
            <a:off x="10515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390448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еще задействован в задаче? Когда у него есть время на нее?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51560" y="4846320"/>
            <a:ext cx="457200" cy="457200"/>
          </a:xfrm>
          <a:prstGeom prst="ellipse">
            <a:avLst/>
          </a:prstGeom>
          <a:solidFill>
            <a:srgbClr val="2C6E4E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/>
          <p:nvPr/>
        </p:nvSpPr>
        <p:spPr>
          <a:xfrm>
            <a:off x="105156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77316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быстро исправить последствия задержки?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720840" y="1554480"/>
            <a:ext cx="4782312" cy="4206240"/>
          </a:xfrm>
          <a:prstGeom prst="roundRect">
            <a:avLst>
              <a:gd name="adj" fmla="val 1957"/>
            </a:avLst>
          </a:prstGeom>
          <a:solidFill>
            <a:srgbClr val="FBEDE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9" name="Text 17"/>
          <p:cNvSpPr/>
          <p:nvPr/>
        </p:nvSpPr>
        <p:spPr>
          <a:xfrm>
            <a:off x="708660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ТАК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Выбираем не самое: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26060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9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лёгкое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9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приятное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ru-RU" sz="19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понятное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9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то, о чём последним написал руководитель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4 · ШАБЛОН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приходить с конфликтом задач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ТАК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5544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«У меня слишком много задач. Что делать первым?»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10817352" cy="2606040"/>
          </a:xfrm>
          <a:prstGeom prst="roundRect">
            <a:avLst>
              <a:gd name="adj" fmla="val 3158"/>
            </a:avLst>
          </a:prstGeom>
          <a:solidFill>
            <a:srgbClr val="F7F6F4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ТАК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996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ru-RU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меня есть задачи </a:t>
            </a:r>
            <a:r>
              <a:rPr lang="en-US" sz="17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ru-RU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ru-RU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В.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ru-RU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задач А и Б зависит продажи и репутация школы – их сделаю в ближайшее время, по задаче В двигаю срок на понедельник, они не заблокирует другие процессы, других участников задачи предупредила, им понедельник окей</a:t>
            </a: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».</a:t>
            </a:r>
            <a:endParaRPr lang="ru-RU" sz="170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562356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dirty="0">
                <a:solidFill>
                  <a:srgbClr val="DA442F"/>
                </a:solidFill>
                <a:latin typeface="Calibri" pitchFamily="34" charset="0"/>
                <a:cs typeface="Calibri" pitchFamily="34" charset="-120"/>
              </a:rPr>
              <a:t>Не просим руководителя распределять приоритеты за нас, а принимаем свое решение и информируем о нем всех. Если есть сомнения – сверяемся. </a:t>
            </a:r>
            <a:endParaRPr lang="en-US" dirty="0">
              <a:solidFill>
                <a:srgbClr val="DA442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 4 · ВЫВОД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Формула приоритетов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02336" cy="402336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Увидел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задач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70048" y="192024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98648" y="19202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0" name="Shape 8"/>
          <p:cNvSpPr/>
          <p:nvPr/>
        </p:nvSpPr>
        <p:spPr>
          <a:xfrm>
            <a:off x="3035808" y="2057400"/>
            <a:ext cx="402336" cy="402336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303580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5808" y="254203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Сравнил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последствия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82896" y="192024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11496" y="19202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5" name="Shape 13"/>
          <p:cNvSpPr/>
          <p:nvPr/>
        </p:nvSpPr>
        <p:spPr>
          <a:xfrm>
            <a:off x="5248656" y="2057400"/>
            <a:ext cx="402336" cy="402336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/>
          <p:nvPr/>
        </p:nvSpPr>
        <p:spPr>
          <a:xfrm>
            <a:off x="5248656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48656" y="254203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Предложил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95744" y="192024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24344" y="19202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0" name="Shape 18"/>
          <p:cNvSpPr/>
          <p:nvPr/>
        </p:nvSpPr>
        <p:spPr>
          <a:xfrm>
            <a:off x="7461504" y="2057400"/>
            <a:ext cx="402336" cy="402336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/>
          <p:nvPr/>
        </p:nvSpPr>
        <p:spPr>
          <a:xfrm>
            <a:off x="7461504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61504" y="254203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Назвал, что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переносится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08592" y="192024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537192" y="19202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5" name="Shape 23"/>
          <p:cNvSpPr/>
          <p:nvPr/>
        </p:nvSpPr>
        <p:spPr>
          <a:xfrm>
            <a:off x="9674352" y="2057400"/>
            <a:ext cx="402336" cy="402336"/>
          </a:xfrm>
          <a:prstGeom prst="ellipse">
            <a:avLst/>
          </a:prstGeom>
          <a:solidFill>
            <a:srgbClr val="2C6E4E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6" name="Text 24"/>
          <p:cNvSpPr/>
          <p:nvPr/>
        </p:nvSpPr>
        <p:spPr>
          <a:xfrm>
            <a:off x="9674352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74352" y="254203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Заранее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передоговорился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85800" y="3749040"/>
            <a:ext cx="10817352" cy="1828800"/>
          </a:xfrm>
          <a:prstGeom prst="roundRect">
            <a:avLst>
              <a:gd name="adj" fmla="val 4500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9" name="Text 27"/>
          <p:cNvSpPr/>
          <p:nvPr/>
        </p:nvSpPr>
        <p:spPr>
          <a:xfrm>
            <a:off x="1143000" y="393192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Приоритизация начинается там, где ресурсов на всё не хватает и приходится выбирать. До этого момента это просто список.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С ВАМИ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формулы на одном листе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17352" cy="1005840"/>
          </a:xfrm>
          <a:prstGeom prst="roundRect">
            <a:avLst>
              <a:gd name="adj" fmla="val 8182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941832" y="1837944"/>
            <a:ext cx="530352" cy="530352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837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7099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Обращение за помощью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нужен результат ___ · Я уже сделала ___ · Вижу варианты ___ · Предлагаю ___, потому что ___ · От тебя нужно ___ (</a:t>
            </a:r>
            <a:r>
              <a:rPr lang="en-US" sz="1300" dirty="0" err="1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3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770632"/>
            <a:ext cx="10817352" cy="1005840"/>
          </a:xfrm>
          <a:prstGeom prst="roundRect">
            <a:avLst>
              <a:gd name="adj" fmla="val 8182"/>
            </a:avLst>
          </a:prstGeom>
          <a:solidFill>
            <a:srgbClr val="F8F7F5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0" name="Shape 8"/>
          <p:cNvSpPr/>
          <p:nvPr/>
        </p:nvSpPr>
        <p:spPr>
          <a:xfrm>
            <a:off x="941832" y="3008376"/>
            <a:ext cx="530352" cy="530352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941832" y="3008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Рефлексия о результатах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2735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___ · Это изменило: ___ · Не получилось: ___ · Следующий шаг: ___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941064"/>
            <a:ext cx="10817352" cy="1005840"/>
          </a:xfrm>
          <a:prstGeom prst="roundRect">
            <a:avLst>
              <a:gd name="adj" fmla="val 8182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5" name="Shape 13"/>
          <p:cNvSpPr/>
          <p:nvPr/>
        </p:nvSpPr>
        <p:spPr>
          <a:xfrm>
            <a:off x="941832" y="4178808"/>
            <a:ext cx="530352" cy="530352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/>
          <p:nvPr/>
        </p:nvSpPr>
        <p:spPr>
          <a:xfrm>
            <a:off x="941832" y="4178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4050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Рассказ о работе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4439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сделала → в каком объёме или качестве → что благодаря этому изменилось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111496"/>
            <a:ext cx="10817352" cy="1005840"/>
          </a:xfrm>
          <a:prstGeom prst="roundRect">
            <a:avLst>
              <a:gd name="adj" fmla="val 8182"/>
            </a:avLst>
          </a:prstGeom>
          <a:solidFill>
            <a:srgbClr val="F8F7F5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20" name="Shape 18"/>
          <p:cNvSpPr/>
          <p:nvPr/>
        </p:nvSpPr>
        <p:spPr>
          <a:xfrm>
            <a:off x="941832" y="5349240"/>
            <a:ext cx="530352" cy="530352"/>
          </a:xfrm>
          <a:prstGeom prst="ellipse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/>
          <p:nvPr/>
        </p:nvSpPr>
        <p:spPr>
          <a:xfrm>
            <a:off x="941832" y="53492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5221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Конфликт приоритетов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561441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Увидел конфликт → сравнил последствия → предложил приоритет → назвал, что переносится → заранее передоговорился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КОМАНДНАЯ РАБОТА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команды — три задачи из чужой функции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получите задачу, которой обычно занимается другая команда. Вам не нужно знать все детали процесса: обозначайте допущения и формулируйте вопросы там, где информации не хватает.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20 минут подготовьте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5285232" cy="1115568"/>
          </a:xfrm>
          <a:prstGeom prst="roundRect">
            <a:avLst>
              <a:gd name="adj" fmla="val 7377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 dirty="0"/>
          </a:p>
        </p:txBody>
      </p:sp>
      <p:sp>
        <p:nvSpPr>
          <p:cNvPr id="7" name="Shape 5"/>
          <p:cNvSpPr/>
          <p:nvPr/>
        </p:nvSpPr>
        <p:spPr>
          <a:xfrm>
            <a:off x="960120" y="3136392"/>
            <a:ext cx="502920" cy="50292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9601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34640"/>
            <a:ext cx="4206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u-RU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 конечного</a:t>
            </a: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</a:t>
            </a:r>
            <a:r>
              <a:rPr lang="ru-RU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r>
              <a:rPr lang="en-US" sz="1700" dirty="0">
                <a:solidFill>
                  <a:srgbClr val="C9C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 первые шаги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285232" cy="1115568"/>
          </a:xfrm>
          <a:prstGeom prst="roundRect">
            <a:avLst>
              <a:gd name="adj" fmla="val 7377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1" name="Shape 9"/>
          <p:cNvSpPr/>
          <p:nvPr/>
        </p:nvSpPr>
        <p:spPr>
          <a:xfrm>
            <a:off x="6492240" y="3136392"/>
            <a:ext cx="502920" cy="50292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64922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834640"/>
            <a:ext cx="4206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Приоритеты</a:t>
            </a:r>
            <a:r>
              <a:rPr lang="en-US" sz="1700" dirty="0">
                <a:solidFill>
                  <a:srgbClr val="C9C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 сознательно отложенное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5285232" cy="1115568"/>
          </a:xfrm>
          <a:prstGeom prst="roundRect">
            <a:avLst>
              <a:gd name="adj" fmla="val 7377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5" name="Shape 13"/>
          <p:cNvSpPr/>
          <p:nvPr/>
        </p:nvSpPr>
        <p:spPr>
          <a:xfrm>
            <a:off x="960120" y="4462272"/>
            <a:ext cx="502920" cy="50292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/>
          <p:nvPr/>
        </p:nvSpPr>
        <p:spPr>
          <a:xfrm>
            <a:off x="96012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60520"/>
            <a:ext cx="4206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дословный запрос</a:t>
            </a:r>
            <a:r>
              <a:rPr lang="en-US" sz="1700" dirty="0">
                <a:solidFill>
                  <a:srgbClr val="C9C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руководителю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4160520"/>
            <a:ext cx="5285232" cy="1115568"/>
          </a:xfrm>
          <a:prstGeom prst="roundRect">
            <a:avLst>
              <a:gd name="adj" fmla="val 7377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9" name="Shape 17"/>
          <p:cNvSpPr/>
          <p:nvPr/>
        </p:nvSpPr>
        <p:spPr>
          <a:xfrm>
            <a:off x="6492240" y="4462272"/>
            <a:ext cx="502920" cy="50292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0" name="Text 18"/>
          <p:cNvSpPr/>
          <p:nvPr/>
        </p:nvSpPr>
        <p:spPr>
          <a:xfrm>
            <a:off x="649224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4160520"/>
            <a:ext cx="4206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</a:t>
            </a:r>
            <a:r>
              <a:rPr lang="en-US" sz="1700" dirty="0">
                <a:solidFill>
                  <a:srgbClr val="C9C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после дополнительной вводной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КЕЙС 1 · </a:t>
            </a:r>
            <a:r>
              <a:rPr lang="ru-RU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Варя Лыкова и Настя Котова (Валя по желанию)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Маркетинговая кампания к курсам 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852160" cy="3028604"/>
          </a:xfrm>
          <a:prstGeom prst="roundRect">
            <a:avLst>
              <a:gd name="adj" fmla="val 225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 dirty="0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5257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Нужно организовать маркетинговую кампанию курсов: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Найти рекламные каналы, написать пост, договориться об оплате, понять, куда этот пост ведет – на сайт с программами/на бот, который помогает выбрать курс или еще куда-то</a:t>
            </a:r>
          </a:p>
          <a:p>
            <a:pPr marL="0" indent="0">
              <a:lnSpc>
                <a:spcPct val="120000"/>
              </a:lnSpc>
              <a:buNone/>
            </a:pPr>
            <a:endParaRPr lang="ru-RU" sz="14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Нужно успеть к анонсу через 3 дня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782312" cy="3028604"/>
          </a:xfrm>
          <a:prstGeom prst="roundRect">
            <a:avLst>
              <a:gd name="adj" fmla="val 225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 </a:t>
            </a: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160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должен быть согласованы с руководителем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маркировка рекламы 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Распределять задачи нужно внутри группы, но также можно просить о помощи 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12000"/>
              </a:lnSpc>
              <a:spcAft>
                <a:spcPts val="1000"/>
              </a:spcAft>
              <a:buSzPct val="100000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12000"/>
              </a:lnSpc>
              <a:spcAft>
                <a:spcPts val="1000"/>
              </a:spcAft>
              <a:buSzPct val="100000"/>
            </a:pP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765964"/>
            <a:ext cx="10817352" cy="1828800"/>
          </a:xfrm>
          <a:prstGeom prst="roundRect">
            <a:avLst>
              <a:gd name="adj" fmla="val 9000"/>
            </a:avLst>
          </a:prstGeom>
          <a:solidFill>
            <a:srgbClr val="D9452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1051560" y="4765964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u-RU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решения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ru-RU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какие задачи делает 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отложенное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дословный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запрос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руководителю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 измеряться успех задачи – как вы о нем расскажете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КЕЙС 2 · </a:t>
            </a:r>
            <a:r>
              <a:rPr lang="ru-RU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Света Караваева, Катя Романова и Юля Михайленко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400" b="1" dirty="0">
                <a:solidFill>
                  <a:srgbClr val="1C1C1C"/>
                </a:solidFill>
                <a:latin typeface="Cambria" pitchFamily="34" charset="0"/>
              </a:rPr>
              <a:t>Пользовательские исследования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852160" cy="2827713"/>
          </a:xfrm>
          <a:prstGeom prst="roundRect">
            <a:avLst>
              <a:gd name="adj" fmla="val 225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5257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первого курса часть студентов идёт на следующий, часть — пропадает. Нужно понять почему: через две недели планирование следующего сезона, и выводы исследования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должны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 уже готовы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782312" cy="2827713"/>
          </a:xfrm>
          <a:prstGeom prst="roundRect">
            <a:avLst>
              <a:gd name="adj" fmla="val 225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160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использовать </a:t>
            </a: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СРМ </a:t>
            </a: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разговоры со студентами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для интервью и анкеты должен согласовать руководитель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Позвать на интервью можно только тех, </a:t>
            </a: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согласится</a:t>
            </a:r>
            <a:endParaRPr lang="ru-RU" sz="135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Распределять задачи нужно внутри группы, но также можно просить о помощи </a:t>
            </a:r>
            <a:endParaRPr lang="ru-RU" sz="135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ABFAC0A-082F-EF72-F655-8B9DB27D63DB}"/>
              </a:ext>
            </a:extLst>
          </p:cNvPr>
          <p:cNvSpPr/>
          <p:nvPr/>
        </p:nvSpPr>
        <p:spPr>
          <a:xfrm>
            <a:off x="685800" y="4765964"/>
            <a:ext cx="10817352" cy="1828800"/>
          </a:xfrm>
          <a:prstGeom prst="roundRect">
            <a:avLst>
              <a:gd name="adj" fmla="val 9000"/>
            </a:avLst>
          </a:prstGeom>
          <a:solidFill>
            <a:srgbClr val="D9452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решения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какие задачи делает 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отложенное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дословный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руководителю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 измеряться успех задачи – как вы о нем расскажете</a:t>
            </a:r>
            <a:endParaRPr lang="en-US" sz="1800" dirty="0"/>
          </a:p>
          <a:p>
            <a:endParaRPr lang="en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КЕЙС 3 · </a:t>
            </a:r>
            <a:r>
              <a:rPr lang="ru-RU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 Коробова и Аня Полунина</a:t>
            </a: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B2B-контракт </a:t>
            </a:r>
            <a:r>
              <a:rPr lang="en-US" sz="340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</a:t>
            </a: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участие студентов в курсе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852160" cy="2845724"/>
          </a:xfrm>
          <a:prstGeom prst="roundRect">
            <a:avLst>
              <a:gd name="adj" fmla="val 225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5257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заключить контракт с Яндекс практикумом на то, чтобы они отправляли к нам своих студентов на курсы по софт скиллам.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Предварительная договоренность с ними есть, что мы в это идем, но конкретики мало.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собрать всю информацию для договора и заключить его до конца недели. </a:t>
            </a:r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782312" cy="3063240"/>
          </a:xfrm>
          <a:prstGeom prst="roundRect">
            <a:avLst>
              <a:gd name="adj" fmla="val 225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 </a:t>
            </a: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160520" cy="2297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использовать наше расписание из </a:t>
            </a:r>
            <a:r>
              <a:rPr lang="ru-RU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срм</a:t>
            </a: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знания о содержании программ 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У вас есть контракт менеджера Марины со стороны Яндекс практикума, но отвечает она редко, телеграмм не использует, а своих задач много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Финальная версия договора должна быть согласована с руководителем 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Распределять задачи нужно внутри группы, но также можно просить о помощи </a:t>
            </a:r>
            <a:endParaRPr lang="ru-RU" sz="135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endParaRPr lang="en-US" sz="13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93ECAF4-25C3-4E64-4CDE-53F96B02D0C0}"/>
              </a:ext>
            </a:extLst>
          </p:cNvPr>
          <p:cNvSpPr/>
          <p:nvPr/>
        </p:nvSpPr>
        <p:spPr>
          <a:xfrm>
            <a:off x="685800" y="4765964"/>
            <a:ext cx="10817352" cy="1828800"/>
          </a:xfrm>
          <a:prstGeom prst="roundRect">
            <a:avLst>
              <a:gd name="adj" fmla="val 9000"/>
            </a:avLst>
          </a:prstGeom>
          <a:solidFill>
            <a:srgbClr val="D9452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решения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какие задачи делает 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отложенное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дословный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руководителю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 измеряться успех задачи – как вы о нем расскажете</a:t>
            </a:r>
            <a:endParaRPr lang="en-US" sz="1800" dirty="0"/>
          </a:p>
          <a:p>
            <a:endParaRPr lang="en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2806</Words>
  <Application>Microsoft Macintosh PowerPoint</Application>
  <PresentationFormat>Widescreen</PresentationFormat>
  <Paragraphs>364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мы работаем — четыре навыка</dc:title>
  <dc:subject>PptxGenJS Presentation</dc:subject>
  <dc:creator>GOGOL School</dc:creator>
  <cp:lastModifiedBy>Бэлла Фатт</cp:lastModifiedBy>
  <cp:revision>14</cp:revision>
  <cp:lastPrinted>2026-08-12T10:24:38Z</cp:lastPrinted>
  <dcterms:created xsi:type="dcterms:W3CDTF">2026-08-10T23:40:26Z</dcterms:created>
  <dcterms:modified xsi:type="dcterms:W3CDTF">2026-08-12T11:20:37Z</dcterms:modified>
</cp:coreProperties>
</file>