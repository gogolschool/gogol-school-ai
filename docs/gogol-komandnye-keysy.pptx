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161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Команды собираются так, чтобы кейс был из чужой функции: маркетинговый — не маркетологам и т.д. Смысл: без знания процесса нельзя опереться на привычку — остаются только четыре навыка. Проговорить вслух: незнание деталей — не ошибка, называйте допущения и вопросы.
Пункт 4 означает, что дополнительная вводная обязательна: примерно на 12-й минуте подготовки вбросить каждой команде её вводную (есть в заметках кейсов) — статус команды готовят уже с её учётом.
Во время подготовки вы играете руководителя: на сырой запрос («что нам делать?») отвечайте «а что ты предлагаешь?».
Оцениваем не правильность решения, а применение четырёх навыков.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проверяем по навыкам:
— Оунершип: результат = отправленная рассылка и заявки, а не «мы спросили, как собрать кампанию». Никто не умеет в CRM — это препятствие, не конец задачи.
— Приоритеты: сначала список и текст на согласование (без них всё стоит), шаблон — потом. Ловушка: залипнуть в выбор шаблона.
— Вопросы и помощь: два законных запроса — «покажи, как собрать кампанию» (после попытки разобраться по инструкции) и «согласуй текст до …». Плохой запрос: «мы не умеем, сделайте за нас».
— Видимость: что доложат после отправки — открытия, клики, заявки, что не получилось.
Доп-вопрос «о чём подумать» — ждём: отписки/спам, время отправки, UTM, не задеть тех, кто уже купил, что делать с ответами на письмо.
Вброс по ходу (по желанию): «руководитель занят до вечера» — посмотреть, встанут 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проверяем по навыкам:
— Оунершип: результат = выводы и рекомендация к планированию, даже если данные неполные. Решение без полной информации: лучше честные выводы по 8 интервью, чем идеальное исследование после дедлайна.
— Приоритеты: что успеть за две недели, а что отрезать. Ловушка: попытаться сделать и количественное, и качественное целиком.
— Вопросы и помощь: согласование вопросов — заранее и пакетом, а не «набросали за день до конца». Правильный запрос: «вот вопросы, вот зачем каждый, подтверди до среды». Плюс делёж работы: один не успеет — как распределят.
— Видимость: как оформят выводы, чтобы планирование могло на них опереться.
Вброс по ходу (по желанию): «руководитель вернул вопросы с правками через три дня» — успеют ли перестроиться.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проверяем по навыкам:
— Оунершип: результат = подписанный договор и состоявшееся первое занятие, а не «отправили драфт и ждём». Держать много ниток одновременно и не терять ни одну.
— Приоритеты: что блокирует всё (цена и условия), а что можно решить позже (кофе-брейк). Ловушка: начать с мелочей, потому что они проще.
— Вопросы и помощь: что админ решает сам, а что согласует (цена, скидка, слоты залов). Запрос по формуле: «вот условия, вот два варианта площадки, предлагаю наш зал по вторникам, подтверди до пятницы».
— Видимость: статус по сделке раз в неделю — что подтверждено, что висит, что нужно от руководителя. Сделка длинная, молчание тут дороже всего.
Вброс по ходу (по желанию): «компания просит скидку 20% и старт через две недели» — что эскалируют, что ответят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РАБОТА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команды — три задачи из чужой функции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получите задачу, которой обычно занимается другая команда. Вам не нужно знать все детали процесса: обозначайте допущения и формулируйте вопросы там, где информации не хватает.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20 минут подготовьте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 dirty="0"/>
          </a:p>
        </p:txBody>
      </p:sp>
      <p:sp>
        <p:nvSpPr>
          <p:cNvPr id="7" name="Shape 5"/>
          <p:cNvSpPr/>
          <p:nvPr/>
        </p:nvSpPr>
        <p:spPr>
          <a:xfrm>
            <a:off x="960120" y="313639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9601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 конечного</a:t>
            </a: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</a:t>
            </a:r>
            <a:r>
              <a:rPr lang="ru-RU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первые шаги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6492240" y="313639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64922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83464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Приоритеты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сознательно отложенное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5" name="Shape 13"/>
          <p:cNvSpPr/>
          <p:nvPr/>
        </p:nvSpPr>
        <p:spPr>
          <a:xfrm>
            <a:off x="960120" y="446227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96012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6052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дословный запрос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руководителю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5285232" cy="1115568"/>
          </a:xfrm>
          <a:prstGeom prst="roundRect">
            <a:avLst>
              <a:gd name="adj" fmla="val 7377"/>
            </a:avLst>
          </a:prstGeom>
          <a:solidFill>
            <a:srgbClr val="2A2A2A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9" name="Shape 17"/>
          <p:cNvSpPr/>
          <p:nvPr/>
        </p:nvSpPr>
        <p:spPr>
          <a:xfrm>
            <a:off x="6492240" y="4462272"/>
            <a:ext cx="502920" cy="502920"/>
          </a:xfrm>
          <a:prstGeom prst="ellipse">
            <a:avLst/>
          </a:prstGeom>
          <a:solidFill>
            <a:srgbClr val="D9452F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/>
          <p:nvPr/>
        </p:nvSpPr>
        <p:spPr>
          <a:xfrm>
            <a:off x="64922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4160520"/>
            <a:ext cx="4206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</a:t>
            </a:r>
            <a:r>
              <a:rPr lang="en-US" sz="1700" dirty="0">
                <a:solidFill>
                  <a:srgbClr val="C9C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после дополнительной вводной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четыре инструмента из презентации — формула обращения и шаблон статуса есть в памятке.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КЕЙС 1 · </a:t>
            </a:r>
            <a:r>
              <a:rPr lang="ru-RU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Варя Лыкова и Настя Котова (Валя по желанию)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Маркетинговая кампания к курсам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3028604"/>
          </a:xfrm>
          <a:prstGeom prst="roundRect">
            <a:avLst>
              <a:gd name="adj" fmla="val 225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5257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Нужно организовать маркетинговую кампанию курсов: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Найти рекламные каналы, написать пост, договориться об оплате, понять, куда этот пост ведет – на сайт с программами/на бот, который помогает выбрать курс или еще куда-то</a:t>
            </a:r>
          </a:p>
          <a:p>
            <a:pPr marL="0" indent="0">
              <a:lnSpc>
                <a:spcPct val="120000"/>
              </a:lnSpc>
              <a:buNone/>
            </a:pPr>
            <a:endParaRPr lang="ru-RU" sz="14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Нужно успеть к анонсу через 3 дня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782312" cy="3028604"/>
          </a:xfrm>
          <a:prstGeom prst="roundRect">
            <a:avLst>
              <a:gd name="adj" fmla="val 225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 </a:t>
            </a: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160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должен быть согласованы с руководителем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маркировка рекламы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Распределять задачи нужно внутри группы, но также можно просить о помощи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765964"/>
            <a:ext cx="10817352" cy="1828800"/>
          </a:xfrm>
          <a:prstGeom prst="roundRect">
            <a:avLst>
              <a:gd name="adj" fmla="val 9000"/>
            </a:avLst>
          </a:prstGeom>
          <a:solidFill>
            <a:srgbClr val="D9452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1051560" y="4765964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решения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ru-RU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какие задачи делает 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отложенное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запрос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измеряться успех задачи – как вы о нем расскажете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КЕЙС 2 · </a:t>
            </a:r>
            <a:r>
              <a:rPr lang="ru-RU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Света Караваева, Катя Романова и Юля Михайленко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400" b="1" dirty="0">
                <a:solidFill>
                  <a:srgbClr val="1C1C1C"/>
                </a:solidFill>
                <a:latin typeface="Cambria" pitchFamily="34" charset="0"/>
              </a:rPr>
              <a:t>Пользовательские исследования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2827713"/>
          </a:xfrm>
          <a:prstGeom prst="roundRect">
            <a:avLst>
              <a:gd name="adj" fmla="val 225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5257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первого курса часть студентов идёт на следующий, часть — пропадает. Нужно понять почему: через две недели планирование следующего сезона, и выводы исследования </a:t>
            </a:r>
            <a:r>
              <a:rPr lang="en-US" sz="14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должны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уже готовы</a:t>
            </a: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782312" cy="2827713"/>
          </a:xfrm>
          <a:prstGeom prst="roundRect">
            <a:avLst>
              <a:gd name="adj" fmla="val 225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160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использовать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СРМ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разговоры со студентами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для интервью и анкеты должен согласовать руководитель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Позвать на интервью можно только тех,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r>
              <a:rPr lang="en-US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согласится</a:t>
            </a: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Распределять задачи нужно внутри группы, но также можно просить о помощи </a:t>
            </a: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ABFAC0A-082F-EF72-F655-8B9DB27D63DB}"/>
              </a:ext>
            </a:extLst>
          </p:cNvPr>
          <p:cNvSpPr/>
          <p:nvPr/>
        </p:nvSpPr>
        <p:spPr>
          <a:xfrm>
            <a:off x="685800" y="4765964"/>
            <a:ext cx="10817352" cy="1828800"/>
          </a:xfrm>
          <a:prstGeom prst="roundRect">
            <a:avLst>
              <a:gd name="adj" fmla="val 9000"/>
            </a:avLst>
          </a:prstGeom>
          <a:solidFill>
            <a:srgbClr val="D9452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решения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какие задачи делает 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отложенное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измеряться успех задачи – как вы о нем расскажете</a:t>
            </a:r>
            <a:endParaRPr lang="en-US" sz="1800" dirty="0"/>
          </a:p>
          <a:p>
            <a:endParaRPr lang="en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КЕЙС 3 · </a:t>
            </a:r>
            <a:r>
              <a:rPr lang="ru-RU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 Коробова и Аня Полунина</a:t>
            </a:r>
            <a:r>
              <a:rPr lang="en-US" sz="1200" b="1" kern="0" spc="200" dirty="0">
                <a:solidFill>
                  <a:srgbClr val="D9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B2B-контракт </a:t>
            </a:r>
            <a:r>
              <a:rPr lang="en-US" sz="34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</a:t>
            </a: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участие студентов в курсе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852160" cy="2845724"/>
          </a:xfrm>
          <a:prstGeom prst="roundRect">
            <a:avLst>
              <a:gd name="adj" fmla="val 2250"/>
            </a:avLst>
          </a:prstGeom>
          <a:solidFill>
            <a:srgbClr val="F3F2E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52578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заключить контракт с Яндекс практикумом на то, чтобы они отправляли к нам своих студентов на курсы по софт скиллам.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Предварительная договоренность с ними есть, что мы в это идем, но конкретики мало.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собрать всю информацию для договора и заключить его до конца недели. </a:t>
            </a:r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782312" cy="3063240"/>
          </a:xfrm>
          <a:prstGeom prst="roundRect">
            <a:avLst>
              <a:gd name="adj" fmla="val 2250"/>
            </a:avLst>
          </a:prstGeom>
          <a:solidFill>
            <a:srgbClr val="EAF2ED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 </a:t>
            </a:r>
            <a:r>
              <a:rPr lang="en-US" sz="1100" b="1" kern="0" spc="200" dirty="0">
                <a:solidFill>
                  <a:srgbClr val="2C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160520" cy="2297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использовать наше расписание из </a:t>
            </a:r>
            <a:r>
              <a:rPr lang="ru-RU" sz="13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срм</a:t>
            </a:r>
            <a:r>
              <a:rPr lang="ru-RU" sz="13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знания о содержании программ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У вас есть контракт менеджера Марины со стороны Яндекс практикума, но отвечает она редко, телеграмм не использует, а своих задач много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Финальная версия договора должна быть согласована с руководителем 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ru-RU" sz="1350" dirty="0">
                <a:solidFill>
                  <a:srgbClr val="1C1C1C"/>
                </a:solidFill>
                <a:latin typeface="Calibri" pitchFamily="34" charset="0"/>
                <a:cs typeface="Calibri" pitchFamily="34" charset="-120"/>
              </a:rPr>
              <a:t>Распределять задачи нужно внутри группы, но также можно просить о помощи </a:t>
            </a:r>
            <a:endParaRPr lang="ru-RU" sz="135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ru-RU" sz="1350" dirty="0">
              <a:solidFill>
                <a:srgbClr val="1C1C1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endParaRPr lang="en-US" sz="13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93ECAF4-25C3-4E64-4CDE-53F96B02D0C0}"/>
              </a:ext>
            </a:extLst>
          </p:cNvPr>
          <p:cNvSpPr/>
          <p:nvPr/>
        </p:nvSpPr>
        <p:spPr>
          <a:xfrm>
            <a:off x="685800" y="4765964"/>
            <a:ext cx="10817352" cy="1828800"/>
          </a:xfrm>
          <a:prstGeom prst="roundRect">
            <a:avLst>
              <a:gd name="adj" fmla="val 9000"/>
            </a:avLst>
          </a:prstGeom>
          <a:solidFill>
            <a:srgbClr val="D9452F"/>
          </a:solidFill>
          <a:ln/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решения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какие задачи делает </a:t>
            </a: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отложенное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дословный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 измеряться успех задачи – как вы о нем расскажете</a:t>
            </a:r>
            <a:endParaRPr lang="en-US" sz="1800" dirty="0"/>
          </a:p>
          <a:p>
            <a:endParaRPr lang="en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1080</Words>
  <Application>Microsoft Macintosh PowerPoint</Application>
  <PresentationFormat>Widescreen</PresentationFormat>
  <Paragraphs>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Командные кейсы</dc:title>
  <dc:subject>PptxGenJS Presentation</dc:subject>
  <dc:creator>GOGOL School</dc:creator>
  <cp:lastModifiedBy>Бэлла Фатт</cp:lastModifiedBy>
  <cp:revision>6</cp:revision>
  <dcterms:created xsi:type="dcterms:W3CDTF">2026-08-11T13:03:58Z</dcterms:created>
  <dcterms:modified xsi:type="dcterms:W3CDTF">2026-08-11T13:51:26Z</dcterms:modified>
</cp:coreProperties>
</file>